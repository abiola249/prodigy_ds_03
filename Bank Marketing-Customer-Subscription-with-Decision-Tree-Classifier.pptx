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615" y="1077635"/>
            <a:ext cx="6317575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Bank Marketing Analysis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29615" y="2016562"/>
            <a:ext cx="7684770" cy="359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50"/>
              </a:lnSpc>
              <a:buNone/>
            </a:pPr>
            <a:r>
              <a:rPr lang="en-US" sz="5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Predicting Customer Subscription with Decision Tree Classifier</a:t>
            </a:r>
            <a:endParaRPr lang="en-US" sz="5650" dirty="0"/>
          </a:p>
        </p:txBody>
      </p:sp>
      <p:sp>
        <p:nvSpPr>
          <p:cNvPr id="5" name="Text 2"/>
          <p:cNvSpPr/>
          <p:nvPr/>
        </p:nvSpPr>
        <p:spPr>
          <a:xfrm>
            <a:off x="729615" y="5900142"/>
            <a:ext cx="76847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machine learning to transform telephone marketing from spray-and-pray outreach into precision-targeted campaigns.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9615" y="6763345"/>
            <a:ext cx="2475309" cy="381000"/>
          </a:xfrm>
          <a:prstGeom prst="roundRect">
            <a:avLst>
              <a:gd name="adj" fmla="val 18386"/>
            </a:avLst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854631" y="6825853"/>
            <a:ext cx="2225278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09104" y="6755725"/>
            <a:ext cx="1191816" cy="396240"/>
          </a:xfrm>
          <a:prstGeom prst="roundRect">
            <a:avLst>
              <a:gd name="adj" fmla="val 17679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41740" y="6825853"/>
            <a:ext cx="926544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580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Machine Learning Repository dataset from Portuguese bank campaigns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9359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1580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financial status, and campaign behavior variables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0859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89.9%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940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Accuracy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43080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performance on held-out test data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90859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0.90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940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ROC-AUC Score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43080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discriminative power despite class imbalance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70488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Tools: Python (scikit-learn, pandas) | Dashboard: Microsoft Power BI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6663"/>
            <a:ext cx="66584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Business Challenge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925604"/>
            <a:ext cx="5891570" cy="3427333"/>
          </a:xfrm>
          <a:prstGeom prst="roundRect">
            <a:avLst>
              <a:gd name="adj" fmla="val 4765"/>
            </a:avLst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152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733562"/>
            <a:ext cx="54379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Telephone marketing campaigns waste resources on low-probability customers. Without intelligent targeting, 88% of calls result in rejection.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5026343"/>
            <a:ext cx="54379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Burned budget, agent morale, and customer irritation.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919674" y="3152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19674" y="3733562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volume-based outreach with intelligence-driven targeting using machine learning to score customers by subscription probability.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5026343"/>
            <a:ext cx="692443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high-conversion customers before calling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campaign ROI with precision targeting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actionable insights from customer data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690" y="638770"/>
            <a:ext cx="8318063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Class Imbalance Challenge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2636044" y="3147417"/>
            <a:ext cx="2673429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88.3%</a:t>
            </a:r>
            <a:endParaRPr lang="en-US" sz="4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2674" y="1788914"/>
            <a:ext cx="3260408" cy="3260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4374" y="5311854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Non-Subscribers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0690" y="5776317"/>
            <a:ext cx="642437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39,922 customers did not subscribe to term deposits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0689" y="3147417"/>
            <a:ext cx="2673429" cy="543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11.7%</a:t>
            </a:r>
            <a:endParaRPr lang="en-US" sz="4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319" y="1788914"/>
            <a:ext cx="3260408" cy="3260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99019" y="5311854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445335" y="5776317"/>
            <a:ext cx="642437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5,289 customers subscribed — approximately 7.5:1 ratio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60690" y="6351151"/>
            <a:ext cx="13109019" cy="1239560"/>
          </a:xfrm>
          <a:prstGeom prst="roundRect">
            <a:avLst>
              <a:gd name="adj" fmla="val 7365"/>
            </a:avLst>
          </a:prstGeom>
          <a:solidFill>
            <a:srgbClr val="C7C9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79" y="6676430"/>
            <a:ext cx="271701" cy="2172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6969" y="6613684"/>
            <a:ext cx="12185452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naive model predicting "no" for every customer would achieve 88% accuracy without learning anything useful. ROC-AUC of 0.90 confirms our model genuinely learned to identify subscribers.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4319" y="920829"/>
            <a:ext cx="5031343" cy="46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Performance Results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74319" y="1717715"/>
            <a:ext cx="4959191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89.9%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3722608" y="2357199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174319" y="2687836"/>
            <a:ext cx="495919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Correctly classified 9 in 10 customers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74319" y="3155513"/>
            <a:ext cx="4959191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0.90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722608" y="3794998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ROC-AUC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74319" y="4125635"/>
            <a:ext cx="495919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discriminative power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74319" y="4593312"/>
            <a:ext cx="4959191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60%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3722608" y="5232797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74319" y="5563433"/>
            <a:ext cx="495919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model predicts subscription, correct 60% of 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74319" y="6031111"/>
            <a:ext cx="4959191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3722608" y="6670596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174319" y="7001232"/>
            <a:ext cx="4959191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40% of all actual subscribers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04509" y="1631156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Impact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04509" y="1961793"/>
            <a:ext cx="4959191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achieves a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hit rate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flagged customers versus an 11.7% base rate from random calling.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04509" y="2444829"/>
            <a:ext cx="4959191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a 5x improvement in campaign efficiency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bank needs 5x fewer calls to reach the same number of subscribers.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3649" y="868680"/>
            <a:ext cx="5418296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Drives Subscription?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73649" y="1437442"/>
            <a:ext cx="2572583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5 Predictive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573649" y="1880473"/>
            <a:ext cx="11483102" cy="998458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6509" y="1903333"/>
            <a:ext cx="665678" cy="952738"/>
          </a:xfrm>
          <a:prstGeom prst="roundRect">
            <a:avLst>
              <a:gd name="adj" fmla="val 6379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1800701" y="2223730"/>
            <a:ext cx="24955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384227" y="2069663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Duration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84227" y="2402800"/>
            <a:ext cx="10483334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 importance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Calls over 300 seconds signal genuine interest. The single most powerful predictor by wide margin.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73649" y="3000970"/>
            <a:ext cx="11483102" cy="998458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6509" y="3023830"/>
            <a:ext cx="665678" cy="952738"/>
          </a:xfrm>
          <a:prstGeom prst="roundRect">
            <a:avLst>
              <a:gd name="adj" fmla="val 6379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1800701" y="3344228"/>
            <a:ext cx="24955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384227" y="3190161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Month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84227" y="3523298"/>
            <a:ext cx="10483334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14% importance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March, September, October, December show dramatically higher conversion. Campaign timing is controllable.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73649" y="4121468"/>
            <a:ext cx="11483102" cy="998458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6509" y="4144327"/>
            <a:ext cx="665678" cy="952738"/>
          </a:xfrm>
          <a:prstGeom prst="roundRect">
            <a:avLst>
              <a:gd name="adj" fmla="val 6379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1800701" y="4464725"/>
            <a:ext cx="24955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384227" y="4310658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Type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84227" y="4643795"/>
            <a:ext cx="10483334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11% importance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Cellular phone contact significantly outperforms landline telephone.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73649" y="5241965"/>
            <a:ext cx="11483102" cy="998458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6509" y="5264825"/>
            <a:ext cx="665678" cy="952738"/>
          </a:xfrm>
          <a:prstGeom prst="roundRect">
            <a:avLst>
              <a:gd name="adj" fmla="val 6379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800701" y="5585222"/>
            <a:ext cx="24955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384227" y="5431155"/>
            <a:ext cx="24637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Days Since Last Contact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84227" y="5764292"/>
            <a:ext cx="10483334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importance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Recent prior engagement increases receptiveness.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73649" y="6362462"/>
            <a:ext cx="11483102" cy="998458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6509" y="6385322"/>
            <a:ext cx="665678" cy="952738"/>
          </a:xfrm>
          <a:prstGeom prst="roundRect">
            <a:avLst>
              <a:gd name="adj" fmla="val 6379"/>
            </a:avLst>
          </a:prstGeom>
          <a:solidFill>
            <a:srgbClr val="DADBF1"/>
          </a:solidFill>
          <a:ln/>
        </p:spPr>
      </p:sp>
      <p:sp>
        <p:nvSpPr>
          <p:cNvPr id="26" name="Text 24"/>
          <p:cNvSpPr/>
          <p:nvPr/>
        </p:nvSpPr>
        <p:spPr>
          <a:xfrm>
            <a:off x="1800701" y="6705719"/>
            <a:ext cx="24955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2384227" y="6551652"/>
            <a:ext cx="2098596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Housing Loan Status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84227" y="6884789"/>
            <a:ext cx="10483334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6% importance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Customers without housing loans have more disposable capital.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9612"/>
            <a:ext cx="89305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Demographic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22019"/>
            <a:ext cx="1205984" cy="1205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2822019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Age: U-Shaped Pattern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3666768"/>
            <a:ext cx="266914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Youngest (18-25) and oldest (66+) segments show highest subscription rates. Middle-aged customers (36-55) show lowest rates due to competing financial commitments.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822019"/>
            <a:ext cx="1205984" cy="12059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2822019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 Type Variation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3312438"/>
            <a:ext cx="266914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and retired customers exhibit highest conversion. Management professionals above average. Blue-collar and services show lowest rates.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822019"/>
            <a:ext cx="1205984" cy="12059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2822019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Success = Future Success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3666768"/>
            <a:ext cx="266914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 conversion rate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customers with previous successful subscription — nearly 6x the base rate. The strongest segmentation signal.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818555"/>
            <a:ext cx="7460456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906429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243257"/>
            <a:ext cx="423493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56642" y="2412206"/>
            <a:ext cx="423493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Re-engage Previous Subscribers First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6642" y="3211354"/>
            <a:ext cx="423493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dedicated track for customers with prior success. This segment converts at 65% — prioritizing 200 of them generates more subscriptions than cold-calling 1,500 unqualified prospects.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97673" y="1906429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97673" y="2243257"/>
            <a:ext cx="423493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197673" y="2412206"/>
            <a:ext cx="423493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Model as Pre-Campaign Scoring Tool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197673" y="3211354"/>
            <a:ext cx="423493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all prospects through decision tree, rank by probability. Focus calling team on customers above 40% threshold to transform hit rate from 11.7% to 40-60%.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38705" y="1906429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38705" y="2243257"/>
            <a:ext cx="423493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38705" y="2412206"/>
            <a:ext cx="423493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Schedule Campaigns for High-Conversion Months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38705" y="3211354"/>
            <a:ext cx="4234934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Reallocate volume from May-July to March, September, October, December. Rescheduling costs nothing and materially improves conversion.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6642" y="5268397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6642" y="5605224"/>
            <a:ext cx="645545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56642" y="5774174"/>
            <a:ext cx="43057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 Agents on Duration Signals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56642" y="6235541"/>
            <a:ext cx="6455450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approaching 5 minutes represent high-conversion opportunities. Agents should invest more effort extending these calls rather than moving to next customer.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8189" y="5268397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18189" y="5605224"/>
            <a:ext cx="6455450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418189" y="5774174"/>
            <a:ext cx="338411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 Cellular Contact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18189" y="6235541"/>
            <a:ext cx="6455450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to cellular outreach where contact method is flexible. Update CRM to flag preferred contact method for compounding advantage.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4379"/>
            <a:ext cx="75914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&amp; Technology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0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Analytical Pipeline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29614"/>
            <a:ext cx="6244709" cy="33075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8416" y="4993517"/>
            <a:ext cx="1543983" cy="19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48622" y="5241412"/>
            <a:ext cx="1653778" cy="3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impute, and encode features.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54547" y="3016361"/>
            <a:ext cx="1543983" cy="19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4753" y="3264256"/>
            <a:ext cx="1653778" cy="3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models with GridSearchCV tuning.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50312" y="2823363"/>
            <a:ext cx="1653777" cy="38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Evaluation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50312" y="3264256"/>
            <a:ext cx="1653777" cy="3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metrics using stratified splits.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33595" y="4993624"/>
            <a:ext cx="1543983" cy="19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3595" y="5241519"/>
            <a:ext cx="1653778" cy="3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interactive reports for stakeholders.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93790" y="619232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handled ML heavy lifting while Power BI enabled interactive business intelligence for non-technical stakeholders.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2020133"/>
            <a:ext cx="33654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Technical Decisions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99521" y="2601278"/>
            <a:ext cx="62447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sampling: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Preserved 88/12 class ratio in train-test split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 optimization: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Insensitive to class imbalance, measures true discriminative power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GridSearchCV across 224 combinations with 5-fold cross-validation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depth: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 depth of 10 vs baseline 29 controlled overfitting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8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65938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machine learning meaningfully improve the bank's ability to identify customers who will subscribe before a single call is made? The answer is an unambiguous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04229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89548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delivered a reliable predictive tool with 0.90 ROC-AUC, fully interpretable decisions, and actionable recommendations. The findings reveal durable intelligence about customer behavior that will remain true beyond this quarter.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393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Power BI dashboard ensures analytical work doesn't remain locked in notebooks — it places intelligence directly in the hands of decision-makers with authority to act.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6333682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66247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Abiola Aderemi | Python (scikit-learn, pandas) | Microsoft Power BI | April 2026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2026-04-08T22:58:22Z</dcterms:created>
  <dcterms:modified xsi:type="dcterms:W3CDTF">2026-04-08T22:58:22Z</dcterms:modified>
</cp:coreProperties>
</file>